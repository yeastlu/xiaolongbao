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jpe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notesMasterIdLst>
    <p:notesMasterId r:id="rIdNotesMaster1"/>
  </p:notes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</p:sldIdLst>
  <p:sldSz cx="6858000" cy="12192000" type="custom"/>
  <p:notesSz cx="6858000" cy="9144000"/>
  <p:defaultTextStyle>
    <a:defPPr>
      <a:defRPr lang="en-US"/>
    </a:def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Master1" Type="http://schemas.openxmlformats.org/officeDocument/2006/relationships/slideMaster" Target="/ppt/slideMasters/slideMaster1.xml"/><Relationship Id="rIdTheme1" Type="http://schemas.openxmlformats.org/officeDocument/2006/relationships/theme" Target="/ppt/theme/theme1.xml"/><Relationship Id="rIdNotesMaster1" Type="http://schemas.openxmlformats.org/officeDocument/2006/relationships/notesMaster" Target="/ppt/notesMasters/notesMaster1.xml"/><Relationship Id="rIdPresProps" Type="http://schemas.openxmlformats.org/officeDocument/2006/relationships/presProps" Target="/ppt/presProps.xml"/><Relationship Id="rIdViewProps" Type="http://schemas.openxmlformats.org/officeDocument/2006/relationships/viewProps" Target="/ppt/viewProps.xml"/><Relationship Id="rIdTableStyles" Type="http://schemas.openxmlformats.org/officeDocument/2006/relationships/tableStyles" Target="/ppt/tableStyles.xml"/><Relationship Id="rIdSlide1" Type="http://schemas.openxmlformats.org/officeDocument/2006/relationships/slide" Target="/ppt/slides/slide1.xml"/><Relationship Id="rIdSlide2" Type="http://schemas.openxmlformats.org/officeDocument/2006/relationships/slide" Target="/ppt/slides/slide2.xml"/><Relationship Id="rIdSlide3" Type="http://schemas.openxmlformats.org/officeDocument/2006/relationships/slide" Target="/ppt/slides/slide3.xml"/><Relationship Id="rIdSlide4" Type="http://schemas.openxmlformats.org/officeDocument/2006/relationships/slide" Target="/ppt/slides/slide4.xml"/><Relationship Id="rIdSlide5" Type="http://schemas.openxmlformats.org/officeDocument/2006/relationships/slide" Target="/ppt/slides/slide5.xml"/><Relationship Id="rIdSlide6" Type="http://schemas.openxmlformats.org/officeDocument/2006/relationships/slide" Target="/ppt/slides/slide6.xml"/><Relationship Id="rIdSlide7" Type="http://schemas.openxmlformats.org/officeDocument/2006/relationships/slide" Target="/ppt/slides/slide7.xml"/><Relationship Id="rIdSlide8" Type="http://schemas.openxmlformats.org/officeDocument/2006/relationships/slide" Target="/ppt/slides/slide8.xml"/><Relationship Id="rIdSlide9" Type="http://schemas.openxmlformats.org/officeDocument/2006/relationships/slide" Target="/ppt/slides/slide9.xml"/><Relationship Id="rIdSlide10" Type="http://schemas.openxmlformats.org/officeDocument/2006/relationships/slide" Target="/ppt/slides/slide10.xml"/><Relationship Id="rIdSlide11" Type="http://schemas.openxmlformats.org/officeDocument/2006/relationships/slide" Target="/ppt/slides/slide1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65a8f5197ad4b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4dd8e5e63c4a0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cc663fd5f044ad3" /><Relationship Type="http://schemas.openxmlformats.org/officeDocument/2006/relationships/slideLayout" Target="/ppt/slideLayouts/slideLayout2.xml" Id="R78b8bd6482af45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b8bd6482af45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/ppt/slideLayouts/slideLayout2.xml"/><Relationship Id="rIdImg1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/ppt/slideLayouts/slideLayout2.xml"/><Relationship Id="rIdImg1" Type="http://schemas.openxmlformats.org/officeDocument/2006/relationships/image" Target="../media/image2.jpg"/><Relationship Id="rIdImg2" Type="http://schemas.openxmlformats.org/officeDocument/2006/relationships/image" Target="../media/image3.jpg"/><Relationship Id="rIdImg3" Type="http://schemas.openxmlformats.org/officeDocument/2006/relationships/image" Target="../media/image4.jpg"/></Relationships>
</file>

<file path=ppt/slides/_rels/slide3.xml.rels><?xml version="1.0" encoding="UTF-8" standalone="yes"?><Relationships xmlns="http://schemas.openxmlformats.org/package/2006/relationships"><Relationship Id="rIdLayout" Type="http://schemas.openxmlformats.org/officeDocument/2006/relationships/slideLayout" Target="/ppt/slideLayouts/slideLayout2.xml"/><Relationship Id="rIdImg1" Type="http://schemas.openxmlformats.org/officeDocument/2006/relationships/image" Target="../media/image5.jpg"/></Relationships>
</file>

<file path=ppt/slides/_rels/slide4.xml.rels><?xml version="1.0" encoding="UTF-8" standalone="yes"?><Relationships xmlns="http://schemas.openxmlformats.org/package/2006/relationships"><Relationship Id="rIdLayout" Type="http://schemas.openxmlformats.org/officeDocument/2006/relationships/slideLayout" Target="/ppt/slideLayouts/slideLayout2.xml"/></Relationships>
</file>

<file path=ppt/slides/_rels/slide5.xml.rels><?xml version="1.0" encoding="UTF-8" standalone="yes"?><Relationships xmlns="http://schemas.openxmlformats.org/package/2006/relationships"><Relationship Id="rIdLayout" Type="http://schemas.openxmlformats.org/officeDocument/2006/relationships/slideLayout" Target="/ppt/slideLayouts/slideLayout2.xml"/><Relationship Id="rIdImg1" Type="http://schemas.openxmlformats.org/officeDocument/2006/relationships/image" Target="../media/image6.jpg"/><Relationship Id="rIdImg2" Type="http://schemas.openxmlformats.org/officeDocument/2006/relationships/image" Target="../media/image7.jpg"/><Relationship Id="rIdImg3" Type="http://schemas.openxmlformats.org/officeDocument/2006/relationships/image" Target="../media/image8.jpg"/></Relationships>
</file>

<file path=ppt/slides/_rels/slide6.xml.rels><?xml version="1.0" encoding="UTF-8" standalone="yes"?><Relationships xmlns="http://schemas.openxmlformats.org/package/2006/relationships"><Relationship Id="rIdLayout" Type="http://schemas.openxmlformats.org/officeDocument/2006/relationships/slideLayout" Target="/ppt/slideLayouts/slideLayout2.xml"/><Relationship Id="rIdImg1" Type="http://schemas.openxmlformats.org/officeDocument/2006/relationships/image" Target="../media/image9.jpg"/><Relationship Id="rIdImg2" Type="http://schemas.openxmlformats.org/officeDocument/2006/relationships/image" Target="../media/image10.jpg"/></Relationships>
</file>

<file path=ppt/slides/_rels/slide7.xml.rels><?xml version="1.0" encoding="UTF-8" standalone="yes"?><Relationships xmlns="http://schemas.openxmlformats.org/package/2006/relationships"><Relationship Id="rIdLayout" Type="http://schemas.openxmlformats.org/officeDocument/2006/relationships/slideLayout" Target="/ppt/slideLayouts/slideLayout2.xml"/><Relationship Id="rIdImg1" Type="http://schemas.openxmlformats.org/officeDocument/2006/relationships/image" Target="../media/image11.jpg"/><Relationship Id="rIdImg2" Type="http://schemas.openxmlformats.org/officeDocument/2006/relationships/image" Target="../media/image12.jpg"/><Relationship Id="rIdImg3" Type="http://schemas.openxmlformats.org/officeDocument/2006/relationships/image" Target="../media/image13.jpg"/></Relationships>
</file>

<file path=ppt/slides/_rels/slide8.xml.rels><?xml version="1.0" encoding="UTF-8" standalone="yes"?><Relationships xmlns="http://schemas.openxmlformats.org/package/2006/relationships"><Relationship Id="rIdLayout" Type="http://schemas.openxmlformats.org/officeDocument/2006/relationships/slideLayout" Target="/ppt/slideLayouts/slideLayout2.xml"/></Relationships>
</file>

<file path=ppt/slides/_rels/slide9.xml.rels><?xml version="1.0" encoding="UTF-8" standalone="yes"?><Relationships xmlns="http://schemas.openxmlformats.org/package/2006/relationships"><Relationship Id="rIdLayout" Type="http://schemas.openxmlformats.org/officeDocument/2006/relationships/slideLayout" Target="/ppt/slideLayouts/slideLayout2.xml"/><Relationship Id="rIdImg1" Type="http://schemas.openxmlformats.org/officeDocument/2006/relationships/image" Target="../media/image14.jpg"/><Relationship Id="rIdImg2" Type="http://schemas.openxmlformats.org/officeDocument/2006/relationships/image" Target="../media/image15.jpg"/></Relationships>
</file>

<file path=ppt/slides/_rels/slide10.xml.rels><?xml version="1.0" encoding="UTF-8" standalone="yes"?><Relationships xmlns="http://schemas.openxmlformats.org/package/2006/relationships"><Relationship Id="rIdLayout" Type="http://schemas.openxmlformats.org/officeDocument/2006/relationships/slideLayout" Target="/ppt/slideLayouts/slideLayout2.xml"/><Relationship Id="rIdImg1" Type="http://schemas.openxmlformats.org/officeDocument/2006/relationships/image" Target="../media/image16.jpg"/><Relationship Id="rIdImg2" Type="http://schemas.openxmlformats.org/officeDocument/2006/relationships/image" Target="../media/image17.jpg"/></Relationships>
</file>

<file path=ppt/slides/_rels/slide11.xml.rels><?xml version="1.0" encoding="UTF-8" standalone="yes"?><Relationships xmlns="http://schemas.openxmlformats.org/package/2006/relationships"><Relationship Id="rIdLayout" Type="http://schemas.openxmlformats.org/officeDocument/2006/relationships/slideLayout" Target="/ppt/slideLayouts/slideLayout2.xml"/><Relationship Id="rIdLink1" Type="http://schemas.openxmlformats.org/officeDocument/2006/relationships/hyperlink" Target="https://guinness.autonavi.com/activity/2020CommonLanding/index.html?id=default&amp;local=1&amp;logId=&amp;logParams=&amp;gd_from=jinisi&amp;schema=amapuri%3A%2F%2Fajx_favorites%2Ffolder%3Fdata%3D%257B%2522ugcId%2522%253A%252219005740360274004183%2522%252C%2522forceCustom%2522%253Atrue%252C%2522pathId%2522%253A6%252C%2522isCreatorShare%2522%253Atrue%257D&amp;share_from=favorites_FavoriteFolder&amp;share_from_type=AJX&amp;share_type=image&amp;share_lastClickSpm=" TargetMode="External"/><Relationship Id="rIdLink2" Type="http://schemas.openxmlformats.org/officeDocument/2006/relationships/hyperlink" Target="http://xhslink.com/o/34tAfhKDAso" TargetMode="External"/><Relationship Id="rIdLink3" Type="http://schemas.openxmlformats.org/officeDocument/2006/relationships/hyperlink" Target="http://xhslink.com/o/5Okh1qGtEAW" TargetMode="External"/><Relationship Id="rIdImg1" Type="http://schemas.openxmlformats.org/officeDocument/2006/relationships/image" Target="../media/image18.jpg"/><Relationship Id="rIdImg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20221C"/>
          </a:solidFill>
          <a:ln>
            <a:noFill/>
          </a:ln>
        </p:spPr>
      </p:sp>
      <p:pic>
        <p:nvPicPr>
          <p:cNvPr id="3" name="image1.jpg" descr="Guangyuan market vegetables"/>
          <p:cNvPicPr>
            <a:picLocks noChangeAspect="1"/>
          </p:cNvPicPr>
          <p:nvPr/>
        </p:nvPicPr>
        <p:blipFill>
          <a:blip r:embed="rIdImg1"/>
          <a:srcRect l="830" r="830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4" name="Shape 4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09110C">
              <a:alpha val="68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411480" y="475488"/>
            <a:ext cx="48920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50" b="1" dirty="0">
                <a:solidFill>
                  <a:srgbClr val="FFF8E8"/>
                </a:solidFill>
                <a:latin typeface="Aptos"/>
                <a:ea typeface="PingFang SC"/>
              </a:rPr>
              <a:t>PRIVATE SHANGHAI FOOD CULTURE EXPERIENCE</a:t>
            </a:r>
          </a:p>
          <a:p>
            <a:pPr algn="l"/>
            <a:r>
              <a:rPr lang="en-US" sz="1050" b="1" dirty="0">
                <a:solidFill>
                  <a:srgbClr val="FFF8E8"/>
                </a:solidFill>
                <a:latin typeface="Aptos"/>
                <a:ea typeface="PingFang SC"/>
              </a:rPr>
              <a:t>私人上海美食文化体验</a:t>
            </a:r>
          </a:p>
        </p:txBody>
      </p:sp>
      <p:sp>
        <p:nvSpPr>
          <p:cNvPr id="6" name="Shape 6"/>
          <p:cNvSpPr/>
          <p:nvPr/>
        </p:nvSpPr>
        <p:spPr>
          <a:xfrm>
            <a:off x="5550408" y="411480"/>
            <a:ext cx="850392" cy="850392"/>
          </a:xfrm>
          <a:prstGeom prst="roundRect">
            <a:avLst/>
          </a:prstGeom>
          <a:noFill/>
          <a:ln w="12700">
            <a:solidFill>
              <a:srgbClr val="FFF8E8">
                <a:alpha val="70000"/>
              </a:srgbClr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5678424" y="566928"/>
            <a:ext cx="566928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en-US" sz="950" dirty="0">
                <a:solidFill>
                  <a:srgbClr val="F8EAD0"/>
                </a:solidFill>
                <a:latin typeface="Georgia"/>
                <a:ea typeface="PingFang SC"/>
              </a:rPr>
              <a:t>Xiao</a:t>
            </a:r>
          </a:p>
          <a:p>
            <a:pPr algn="c"/>
            <a:r>
              <a:rPr lang="en-US" sz="950" dirty="0">
                <a:solidFill>
                  <a:srgbClr val="F8EAD0"/>
                </a:solidFill>
                <a:latin typeface="Georgia"/>
                <a:ea typeface="PingFang SC"/>
              </a:rPr>
              <a:t>Long</a:t>
            </a:r>
          </a:p>
          <a:p>
            <a:pPr algn="c"/>
            <a:r>
              <a:rPr lang="en-US" sz="950" dirty="0">
                <a:solidFill>
                  <a:srgbClr val="F8EAD0"/>
                </a:solidFill>
                <a:latin typeface="Georgia"/>
                <a:ea typeface="PingFang SC"/>
              </a:rPr>
              <a:t>Bao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411480" y="5166360"/>
            <a:ext cx="5943600" cy="1737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Georgia"/>
                <a:ea typeface="Songti SC"/>
              </a:rPr>
              <a:t>广元菜场</a:t>
            </a:r>
          </a:p>
          <a:p>
            <a:pPr algn="l"/>
            <a:r>
              <a:rPr lang="en-US" sz="4000" b="1" dirty="0">
                <a:solidFill>
                  <a:srgbClr val="FFFFFF"/>
                </a:solidFill>
                <a:latin typeface="Georgia"/>
                <a:ea typeface="Songti SC"/>
              </a:rPr>
              <a:t>到家庭厨房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38912" y="7406640"/>
            <a:ext cx="585216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2000"/>
              </a:lnSpc>
            </a:pPr>
            <a:r>
              <a:rPr lang="en-US" sz="1330" dirty="0">
                <a:solidFill>
                  <a:srgbClr val="F6F0E2"/>
                </a:solidFill>
                <a:latin typeface="Aptos"/>
                <a:ea typeface="PingFang SC"/>
              </a:rPr>
              <a:t>From a neighborhood xiaolongbao shop to a real wet market, then into a Shanghainese home kitchen to fold, steam, and taste soup dumplings together.</a:t>
            </a:r>
          </a:p>
          <a:p>
            <a:pPr algn="l">
              <a:lnSpc>
                <a:spcPct val="112000"/>
              </a:lnSpc>
            </a:pPr>
            <a:r>
              <a:rPr lang="en-US" sz="1330" dirty="0">
                <a:solidFill>
                  <a:srgbClr val="F6F0E2"/>
                </a:solidFill>
                <a:latin typeface="Aptos"/>
                <a:ea typeface="PingFang SC"/>
              </a:rPr>
              <a:t>从街坊小笼馆开始，走进菜场，再到上海本地家庭厨房，亲手完成一笼小笼包。</a:t>
            </a:r>
          </a:p>
        </p:txBody>
      </p:sp>
      <p:sp>
        <p:nvSpPr>
          <p:cNvPr id="10" name="Shape 10"/>
          <p:cNvSpPr/>
          <p:nvPr/>
        </p:nvSpPr>
        <p:spPr>
          <a:xfrm>
            <a:off x="438912" y="9555480"/>
            <a:ext cx="1719072" cy="9144"/>
          </a:xfrm>
          <a:prstGeom prst="rect">
            <a:avLst/>
          </a:prstGeom>
          <a:solidFill>
            <a:srgbClr val="FFFFFF">
              <a:alpha val="48000"/>
            </a:srgbClr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438912" y="9720072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50" b="1" dirty="0">
                <a:solidFill>
                  <a:srgbClr val="FFFFFF"/>
                </a:solidFill>
                <a:latin typeface="Aptos"/>
                <a:ea typeface="PingFang SC"/>
              </a:rPr>
              <a:t>June 13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38912" y="10040112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70" dirty="0">
                <a:solidFill>
                  <a:srgbClr val="DFE7DE"/>
                </a:solidFill>
                <a:latin typeface="Aptos"/>
                <a:ea typeface="PingFang SC"/>
              </a:rPr>
              <a:t>2026 afternoon</a:t>
            </a:r>
          </a:p>
        </p:txBody>
      </p:sp>
      <p:sp>
        <p:nvSpPr>
          <p:cNvPr id="13" name="Shape 13"/>
          <p:cNvSpPr/>
          <p:nvPr/>
        </p:nvSpPr>
        <p:spPr>
          <a:xfrm>
            <a:off x="2478024" y="9555480"/>
            <a:ext cx="1719072" cy="9144"/>
          </a:xfrm>
          <a:prstGeom prst="rect">
            <a:avLst/>
          </a:prstGeom>
          <a:solidFill>
            <a:srgbClr val="FFFFFF">
              <a:alpha val="48000"/>
            </a:srgbClr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2478024" y="9720072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50" b="1" dirty="0">
                <a:solidFill>
                  <a:srgbClr val="FFFFFF"/>
                </a:solidFill>
                <a:latin typeface="Aptos"/>
                <a:ea typeface="PingFang SC"/>
              </a:rPr>
              <a:t>3-4 guests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2478024" y="10040112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70" dirty="0">
                <a:solidFill>
                  <a:srgbClr val="DFE7DE"/>
                </a:solidFill>
                <a:latin typeface="Aptos"/>
                <a:ea typeface="PingFang SC"/>
              </a:rPr>
              <a:t>Italian travelers</a:t>
            </a:r>
          </a:p>
        </p:txBody>
      </p:sp>
      <p:sp>
        <p:nvSpPr>
          <p:cNvPr id="16" name="Shape 16"/>
          <p:cNvSpPr/>
          <p:nvPr/>
        </p:nvSpPr>
        <p:spPr>
          <a:xfrm>
            <a:off x="4517136" y="9555480"/>
            <a:ext cx="1719072" cy="9144"/>
          </a:xfrm>
          <a:prstGeom prst="rect">
            <a:avLst/>
          </a:prstGeom>
          <a:solidFill>
            <a:srgbClr val="FFFFFF">
              <a:alpha val="48000"/>
            </a:srgbClr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4517136" y="9720072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50" b="1" dirty="0">
                <a:solidFill>
                  <a:srgbClr val="FFFFFF"/>
                </a:solidFill>
                <a:latin typeface="Aptos"/>
                <a:ea typeface="PingFang SC"/>
              </a:rPr>
              <a:t>4 hours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4517136" y="10040112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970" dirty="0">
                <a:solidFill>
                  <a:srgbClr val="DFE7DE"/>
                </a:solidFill>
                <a:latin typeface="Aptos"/>
                <a:ea typeface="PingFang SC"/>
              </a:rPr>
              <a:t>No transfer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BF8EF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51206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50" b="1" dirty="0">
                <a:solidFill>
                  <a:srgbClr val="B84332"/>
                </a:solidFill>
                <a:latin typeface="Aptos"/>
                <a:ea typeface="PingFang SC"/>
              </a:rPr>
              <a:t>CONCEPT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841248"/>
            <a:ext cx="5852160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700" b="1" dirty="0">
                <a:solidFill>
                  <a:srgbClr val="20221C"/>
                </a:solidFill>
                <a:latin typeface="Georgia"/>
                <a:ea typeface="Songti SC"/>
              </a:rPr>
              <a:t>先看见一只标准小笼包，再去寻找它的来处。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1737360"/>
            <a:ext cx="58064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8000"/>
              </a:lnSpc>
            </a:pPr>
            <a:r>
              <a:rPr lang="en-US" sz="1350" dirty="0">
                <a:solidFill>
                  <a:srgbClr val="596058"/>
                </a:solidFill>
                <a:latin typeface="Aptos"/>
                <a:ea typeface="PingFang SC"/>
              </a:rPr>
              <a:t>The experience begins with a small tasting at Fuchun Xiaolong. Guests see the finished dumpling first, then walk into Guangyuan Wet Market to decode the ingredients before cooking with a Shanghainese auntie in a private home-style kitchen.</a:t>
            </a:r>
          </a:p>
        </p:txBody>
      </p:sp>
      <p:pic>
        <p:nvPicPr>
          <p:cNvPr id="6" name="image2.jpg" descr="Xiaolongbao in bamboo steamer"/>
          <p:cNvPicPr>
            <a:picLocks noChangeAspect="1"/>
          </p:cNvPicPr>
          <p:nvPr/>
        </p:nvPicPr>
        <p:blipFill>
          <a:blip r:embed="rIdImg1"/>
          <a:srcRect t="21427" b="21427"/>
          <a:stretch>
            <a:fillRect/>
          </a:stretch>
        </p:blipFill>
        <p:spPr>
          <a:xfrm>
            <a:off x="502920" y="2788920"/>
            <a:ext cx="5852160" cy="3337560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713232" y="5623560"/>
            <a:ext cx="5413248" cy="640080"/>
          </a:xfrm>
          <a:prstGeom prst="roundRect">
            <a:avLst/>
          </a:prstGeom>
          <a:solidFill>
            <a:srgbClr val="20221C">
              <a:alpha val="78000"/>
            </a:srgbClr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914400" y="5742432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60" dirty="0">
                <a:solidFill>
                  <a:srgbClr val="FFF8E8"/>
                </a:solidFill>
                <a:latin typeface="Aptos"/>
                <a:ea typeface="PingFang SC"/>
              </a:rPr>
              <a:t>Reference bite: thin skin, neat pleats, hot broth, and the local way to taste it.</a:t>
            </a:r>
          </a:p>
          <a:p>
            <a:pPr algn="l"/>
            <a:r>
              <a:rPr lang="en-US" sz="1060" dirty="0">
                <a:solidFill>
                  <a:srgbClr val="FFF8E8"/>
                </a:solidFill>
                <a:latin typeface="Aptos"/>
                <a:ea typeface="PingFang SC"/>
              </a:rPr>
              <a:t>标准参照：薄皮、褶子、汤汁和上海本地吃法。</a:t>
            </a:r>
          </a:p>
        </p:txBody>
      </p:sp>
      <p:pic>
        <p:nvPicPr>
          <p:cNvPr id="9" name="image3.jpg" descr="Guangyuan market entrance"/>
          <p:cNvPicPr>
            <a:picLocks noChangeAspect="1"/>
          </p:cNvPicPr>
          <p:nvPr/>
        </p:nvPicPr>
        <p:blipFill>
          <a:blip r:embed="rIdImg2"/>
          <a:srcRect t="22637" b="22637"/>
          <a:stretch>
            <a:fillRect/>
          </a:stretch>
        </p:blipFill>
        <p:spPr>
          <a:xfrm>
            <a:off x="502920" y="6656832"/>
            <a:ext cx="2834640" cy="2057400"/>
          </a:xfrm>
          <a:prstGeom prst="rect">
            <a:avLst/>
          </a:prstGeom>
        </p:spPr>
      </p:pic>
      <p:pic>
        <p:nvPicPr>
          <p:cNvPr id="10" name="image4.jpg" descr="Private home-style kitchen"/>
          <p:cNvPicPr>
            <a:picLocks noChangeAspect="1"/>
          </p:cNvPicPr>
          <p:nvPr/>
        </p:nvPicPr>
        <p:blipFill>
          <a:blip r:embed="rIdImg3"/>
          <a:srcRect t="1613" b="1613"/>
          <a:stretch>
            <a:fillRect/>
          </a:stretch>
        </p:blipFill>
        <p:spPr>
          <a:xfrm>
            <a:off x="3511296" y="6656832"/>
            <a:ext cx="2834640" cy="2057400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685800" y="9144000"/>
            <a:ext cx="5486400" cy="6949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en-US" sz="1600" b="1" dirty="0">
                <a:solidFill>
                  <a:srgbClr val="315C45"/>
                </a:solidFill>
                <a:latin typeface="Aptos"/>
                <a:ea typeface="PingFang SC"/>
              </a:rPr>
              <a:t>Finished sample → market ingredients → home kitchen practice</a:t>
            </a:r>
          </a:p>
          <a:p>
            <a:pPr algn="c"/>
            <a:r>
              <a:rPr lang="en-US" sz="1600" b="1" dirty="0">
                <a:solidFill>
                  <a:srgbClr val="315C45"/>
                </a:solidFill>
                <a:latin typeface="Aptos"/>
                <a:ea typeface="PingFang SC"/>
              </a:rPr>
              <a:t>成品参照 → 菜场原料 → 家庭厨房动手体验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FFEF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51206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50" b="1" dirty="0">
                <a:solidFill>
                  <a:srgbClr val="B84332"/>
                </a:solidFill>
                <a:latin typeface="Aptos"/>
                <a:ea typeface="PingFang SC"/>
              </a:rPr>
              <a:t>FUCHUN XIAOLONG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841248"/>
            <a:ext cx="5852160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700" b="1" dirty="0">
                <a:solidFill>
                  <a:srgbClr val="20221C"/>
                </a:solidFill>
                <a:latin typeface="Georgia"/>
                <a:ea typeface="Songti SC"/>
              </a:rPr>
              <a:t>富春小笼馆：先吃懂，再动手做。</a:t>
            </a:r>
          </a:p>
        </p:txBody>
      </p:sp>
      <p:pic>
        <p:nvPicPr>
          <p:cNvPr id="5" name="image5.jpg" descr="Steamed xiaolongbao"/>
          <p:cNvPicPr>
            <a:picLocks noChangeAspect="1"/>
          </p:cNvPicPr>
          <p:nvPr/>
        </p:nvPicPr>
        <p:blipFill>
          <a:blip r:embed="rIdImg1"/>
          <a:srcRect t="16202" b="16202"/>
          <a:stretch>
            <a:fillRect/>
          </a:stretch>
        </p:blipFill>
        <p:spPr>
          <a:xfrm>
            <a:off x="548640" y="1901952"/>
            <a:ext cx="5760720" cy="3886200"/>
          </a:xfrm>
          <a:prstGeom prst="rect">
            <a:avLst/>
          </a:prstGeom>
        </p:spPr>
      </p:pic>
      <p:sp>
        <p:nvSpPr>
          <p:cNvPr id="6" name="Shape 6"/>
          <p:cNvSpPr/>
          <p:nvPr/>
        </p:nvSpPr>
        <p:spPr>
          <a:xfrm>
            <a:off x="621792" y="6172200"/>
            <a:ext cx="5596128" cy="3246120"/>
          </a:xfrm>
          <a:prstGeom prst="roundRect">
            <a:avLst/>
          </a:prstGeom>
          <a:solidFill>
            <a:srgbClr val="FBF8EF"/>
          </a:solidFill>
          <a:ln w="12700">
            <a:solidFill>
              <a:srgbClr val="E4D6C2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868680" y="6455664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 dirty="0">
                <a:solidFill>
                  <a:srgbClr val="B84332"/>
                </a:solidFill>
                <a:latin typeface="Aptos"/>
                <a:ea typeface="PingFang SC"/>
              </a:rPr>
              <a:t>14:30  Light tasting and observation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68680" y="6931152"/>
            <a:ext cx="50749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</a:pPr>
            <a:r>
              <a:rPr lang="en-US" sz="1300" dirty="0">
                <a:solidFill>
                  <a:srgbClr val="596058"/>
                </a:solidFill>
                <a:latin typeface="Aptos"/>
                <a:ea typeface="PingFang SC"/>
              </a:rPr>
              <a:t>Guests observe the shape, pleats, broth, and eating rhythm of a standard local xiaolongbao before going to the market.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68680" y="79095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50" b="1" dirty="0">
                <a:solidFill>
                  <a:srgbClr val="315C45"/>
                </a:solidFill>
                <a:latin typeface="Aptos"/>
                <a:ea typeface="PingFang SC"/>
              </a:rPr>
              <a:t>本地吃法 Local way to eat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868680" y="8339328"/>
            <a:ext cx="51663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2000"/>
              </a:lnSpc>
            </a:pPr>
            <a:r>
              <a:rPr lang="en-US" sz="1230" dirty="0">
                <a:solidFill>
                  <a:srgbClr val="596058"/>
                </a:solidFill>
                <a:latin typeface="Aptos"/>
                <a:ea typeface="PingFang SC"/>
              </a:rPr>
              <a:t>Make a small opening first, sip the hot soup carefully, then enjoy the dumpling with vinegar and ginger.</a:t>
            </a:r>
          </a:p>
          <a:p>
            <a:pPr algn="l">
              <a:lnSpc>
                <a:spcPct val="112000"/>
              </a:lnSpc>
            </a:pPr>
            <a:r>
              <a:rPr lang="en-US" sz="1230" dirty="0">
                <a:solidFill>
                  <a:srgbClr val="596058"/>
                </a:solidFill>
                <a:latin typeface="Aptos"/>
                <a:ea typeface="PingFang SC"/>
              </a:rPr>
              <a:t>先轻轻咬开一个小口，慢慢喝汤，再蘸醋和姜丝吃掉整只小笼包。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BF8EF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51206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50" b="1" dirty="0">
                <a:solidFill>
                  <a:srgbClr val="B84332"/>
                </a:solidFill>
                <a:latin typeface="Aptos"/>
                <a:ea typeface="PingFang SC"/>
              </a:rPr>
              <a:t>4-HOUR MAIN EXPERIENCE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841248"/>
            <a:ext cx="5852160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700" b="1" dirty="0">
                <a:solidFill>
                  <a:srgbClr val="20221C"/>
                </a:solidFill>
                <a:latin typeface="Georgia"/>
                <a:ea typeface="Songti SC"/>
              </a:rPr>
              <a:t>主体验行程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1737360"/>
            <a:ext cx="58064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8000"/>
              </a:lnSpc>
            </a:pPr>
            <a:r>
              <a:rPr lang="en-US" sz="1350" dirty="0">
                <a:solidFill>
                  <a:srgbClr val="596058"/>
                </a:solidFill>
                <a:latin typeface="Aptos"/>
                <a:ea typeface="PingFang SC"/>
              </a:rPr>
              <a:t>Citywalk is kept separate as an optional neighborhood suggestion before or after the experience. The hosted program focuses on xiaolongbao, market life, and the private kitchen.</a:t>
            </a:r>
          </a:p>
        </p:txBody>
      </p:sp>
      <p:sp>
        <p:nvSpPr>
          <p:cNvPr id="6" name="Shape 6"/>
          <p:cNvSpPr/>
          <p:nvPr/>
        </p:nvSpPr>
        <p:spPr>
          <a:xfrm>
            <a:off x="1078992" y="2798064"/>
            <a:ext cx="22860" cy="7223760"/>
          </a:xfrm>
          <a:prstGeom prst="rect">
            <a:avLst/>
          </a:prstGeom>
          <a:solidFill>
            <a:srgbClr val="D7D0C2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530352" y="2706624"/>
            <a:ext cx="914400" cy="347472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0C2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694944" y="2775204"/>
            <a:ext cx="58521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en-US" sz="1050" b="1" dirty="0">
                <a:solidFill>
                  <a:srgbClr val="315C45"/>
                </a:solidFill>
                <a:latin typeface="Aptos"/>
                <a:ea typeface="PingFang SC"/>
              </a:rPr>
              <a:t>14:30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700784" y="2688336"/>
            <a:ext cx="4526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50" b="1" dirty="0">
                <a:solidFill>
                  <a:srgbClr val="20221C"/>
                </a:solidFill>
                <a:latin typeface="Aptos"/>
                <a:ea typeface="PingFang SC"/>
              </a:rPr>
              <a:t>富春小笼馆集合与观察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700784" y="3026664"/>
            <a:ext cx="4480560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0000"/>
              </a:lnSpc>
            </a:pPr>
            <a:r>
              <a:rPr lang="en-US" sz="1060" dirty="0">
                <a:solidFill>
                  <a:srgbClr val="596058"/>
                </a:solidFill>
                <a:latin typeface="Aptos"/>
                <a:ea typeface="PingFang SC"/>
              </a:rPr>
              <a:t>Light tasting; observe skin, pleats, broth, and local eating method.</a:t>
            </a:r>
          </a:p>
        </p:txBody>
      </p:sp>
      <p:sp>
        <p:nvSpPr>
          <p:cNvPr id="11" name="Shape 11"/>
          <p:cNvSpPr/>
          <p:nvPr/>
        </p:nvSpPr>
        <p:spPr>
          <a:xfrm>
            <a:off x="530352" y="3950208"/>
            <a:ext cx="914400" cy="347472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0C2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694944" y="4018788"/>
            <a:ext cx="58521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en-US" sz="1050" b="1" dirty="0">
                <a:solidFill>
                  <a:srgbClr val="315C45"/>
                </a:solidFill>
                <a:latin typeface="Aptos"/>
                <a:ea typeface="PingFang SC"/>
              </a:rPr>
              <a:t>15:00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700784" y="3931920"/>
            <a:ext cx="4526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50" b="1" dirty="0">
                <a:solidFill>
                  <a:srgbClr val="20221C"/>
                </a:solidFill>
                <a:latin typeface="Aptos"/>
                <a:ea typeface="PingFang SC"/>
              </a:rPr>
              <a:t>广元菜场采购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700784" y="4270248"/>
            <a:ext cx="4480560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0000"/>
              </a:lnSpc>
            </a:pPr>
            <a:r>
              <a:rPr lang="en-US" sz="1060" dirty="0">
                <a:solidFill>
                  <a:srgbClr val="596058"/>
                </a:solidFill>
                <a:latin typeface="Aptos"/>
                <a:ea typeface="PingFang SC"/>
              </a:rPr>
              <a:t>Buy pork, scallion, ginger, flour-related ingredients, and seasonal market finds.</a:t>
            </a:r>
          </a:p>
        </p:txBody>
      </p:sp>
      <p:sp>
        <p:nvSpPr>
          <p:cNvPr id="15" name="Shape 15"/>
          <p:cNvSpPr/>
          <p:nvPr/>
        </p:nvSpPr>
        <p:spPr>
          <a:xfrm>
            <a:off x="530352" y="5193792"/>
            <a:ext cx="914400" cy="347472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0C2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694944" y="5262372"/>
            <a:ext cx="58521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en-US" sz="1050" b="1" dirty="0">
                <a:solidFill>
                  <a:srgbClr val="315C45"/>
                </a:solidFill>
                <a:latin typeface="Aptos"/>
                <a:ea typeface="PingFang SC"/>
              </a:rPr>
              <a:t>15:45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700784" y="5175504"/>
            <a:ext cx="4526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50" b="1" dirty="0">
                <a:solidFill>
                  <a:srgbClr val="20221C"/>
                </a:solidFill>
                <a:latin typeface="Aptos"/>
                <a:ea typeface="PingFang SC"/>
              </a:rPr>
              <a:t>前往私人家庭式厨房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700784" y="5513832"/>
            <a:ext cx="4480560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0000"/>
              </a:lnSpc>
            </a:pPr>
            <a:r>
              <a:rPr lang="en-US" sz="1060" dirty="0">
                <a:solidFill>
                  <a:srgbClr val="596058"/>
                </a:solidFill>
                <a:latin typeface="Aptos"/>
                <a:ea typeface="PingFang SC"/>
              </a:rPr>
              <a:t>Move to a nearby home-style kitchen opposite the market.</a:t>
            </a:r>
          </a:p>
        </p:txBody>
      </p:sp>
      <p:sp>
        <p:nvSpPr>
          <p:cNvPr id="19" name="Shape 19"/>
          <p:cNvSpPr/>
          <p:nvPr/>
        </p:nvSpPr>
        <p:spPr>
          <a:xfrm>
            <a:off x="530352" y="6437376"/>
            <a:ext cx="914400" cy="347472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0C2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694944" y="6505956"/>
            <a:ext cx="58521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en-US" sz="1050" b="1" dirty="0">
                <a:solidFill>
                  <a:srgbClr val="315C45"/>
                </a:solidFill>
                <a:latin typeface="Aptos"/>
                <a:ea typeface="PingFang SC"/>
              </a:rPr>
              <a:t>16:00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700784" y="6419088"/>
            <a:ext cx="4526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50" b="1" dirty="0">
                <a:solidFill>
                  <a:srgbClr val="20221C"/>
                </a:solidFill>
                <a:latin typeface="Aptos"/>
                <a:ea typeface="PingFang SC"/>
              </a:rPr>
              <a:t>上海阿姨小笼包教学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700784" y="6757416"/>
            <a:ext cx="4480560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0000"/>
              </a:lnSpc>
            </a:pPr>
            <a:r>
              <a:rPr lang="en-US" sz="1060" dirty="0">
                <a:solidFill>
                  <a:srgbClr val="596058"/>
                </a:solidFill>
                <a:latin typeface="Aptos"/>
                <a:ea typeface="PingFang SC"/>
              </a:rPr>
              <a:t>Learn filling, wrapping, pleating, and steaming with hands-on guidance.</a:t>
            </a:r>
          </a:p>
        </p:txBody>
      </p:sp>
      <p:sp>
        <p:nvSpPr>
          <p:cNvPr id="23" name="Shape 23"/>
          <p:cNvSpPr/>
          <p:nvPr/>
        </p:nvSpPr>
        <p:spPr>
          <a:xfrm>
            <a:off x="530352" y="7680960"/>
            <a:ext cx="914400" cy="347472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0C2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694944" y="7749540"/>
            <a:ext cx="58521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en-US" sz="1050" b="1" dirty="0">
                <a:solidFill>
                  <a:srgbClr val="315C45"/>
                </a:solidFill>
                <a:latin typeface="Aptos"/>
                <a:ea typeface="PingFang SC"/>
              </a:rPr>
              <a:t>17:30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700784" y="7662672"/>
            <a:ext cx="4526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50" b="1" dirty="0">
                <a:solidFill>
                  <a:srgbClr val="20221C"/>
                </a:solidFill>
                <a:latin typeface="Aptos"/>
                <a:ea typeface="PingFang SC"/>
              </a:rPr>
              <a:t>品尝与家庭餐桌交流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1700784" y="8001000"/>
            <a:ext cx="4480560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0000"/>
              </a:lnSpc>
            </a:pPr>
            <a:r>
              <a:rPr lang="en-US" sz="1060" dirty="0">
                <a:solidFill>
                  <a:srgbClr val="596058"/>
                </a:solidFill>
                <a:latin typeface="Aptos"/>
                <a:ea typeface="PingFang SC"/>
              </a:rPr>
              <a:t>Taste freshly steamed xiaolongbao and talk about Shanghainese home cooking.</a:t>
            </a:r>
          </a:p>
        </p:txBody>
      </p:sp>
      <p:sp>
        <p:nvSpPr>
          <p:cNvPr id="27" name="Shape 27"/>
          <p:cNvSpPr/>
          <p:nvPr/>
        </p:nvSpPr>
        <p:spPr>
          <a:xfrm>
            <a:off x="530352" y="8924544"/>
            <a:ext cx="914400" cy="347472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0C2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694944" y="8993124"/>
            <a:ext cx="58521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en-US" sz="1050" b="1" dirty="0">
                <a:solidFill>
                  <a:srgbClr val="315C45"/>
                </a:solidFill>
                <a:latin typeface="Aptos"/>
                <a:ea typeface="PingFang SC"/>
              </a:rPr>
              <a:t>18:30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1700784" y="8906256"/>
            <a:ext cx="4526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50" b="1" dirty="0">
                <a:solidFill>
                  <a:srgbClr val="20221C"/>
                </a:solidFill>
                <a:latin typeface="Aptos"/>
                <a:ea typeface="PingFang SC"/>
              </a:rPr>
              <a:t>体验结束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1700784" y="9244584"/>
            <a:ext cx="4480560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0000"/>
              </a:lnSpc>
            </a:pPr>
            <a:r>
              <a:rPr lang="en-US" sz="1060" dirty="0">
                <a:solidFill>
                  <a:srgbClr val="596058"/>
                </a:solidFill>
                <a:latin typeface="Aptos"/>
                <a:ea typeface="PingFang SC"/>
              </a:rPr>
              <a:t>The experience ends on site. Private transfer is not included.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315C45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51206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50" b="1" dirty="0">
                <a:solidFill>
                  <a:srgbClr val="FFF8E8"/>
                </a:solidFill>
                <a:latin typeface="Aptos"/>
                <a:ea typeface="PingFang SC"/>
              </a:rPr>
              <a:t>MARKET TEXTURES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841248"/>
            <a:ext cx="5852160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700" b="1" dirty="0">
                <a:solidFill>
                  <a:srgbClr val="FFF8E8"/>
                </a:solidFill>
                <a:latin typeface="Georgia"/>
                <a:ea typeface="Songti SC"/>
              </a:rPr>
              <a:t>菜场不是背景，是这只小笼包的第一间厨房。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1737360"/>
            <a:ext cx="58064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8000"/>
              </a:lnSpc>
            </a:pPr>
            <a:r>
              <a:rPr lang="en-US" sz="1350" dirty="0">
                <a:solidFill>
                  <a:srgbClr val="D6E4E4"/>
                </a:solidFill>
                <a:latin typeface="Aptos"/>
                <a:ea typeface="PingFang SC"/>
              </a:rPr>
              <a:t>The market visit is designed around the logic of the dumpling: meat for texture, aromatics for fragrance, flour for skin, and local stalls for the rhythm of everyday Shanghai.</a:t>
            </a:r>
          </a:p>
        </p:txBody>
      </p:sp>
      <p:pic>
        <p:nvPicPr>
          <p:cNvPr id="6" name="image6.jpg" descr="Market vegetables"/>
          <p:cNvPicPr>
            <a:picLocks noChangeAspect="1"/>
          </p:cNvPicPr>
          <p:nvPr/>
        </p:nvPicPr>
        <p:blipFill>
          <a:blip r:embed="rIdImg1"/>
          <a:srcRect l="249" r="249"/>
          <a:stretch>
            <a:fillRect/>
          </a:stretch>
        </p:blipFill>
        <p:spPr>
          <a:xfrm>
            <a:off x="502920" y="2743200"/>
            <a:ext cx="2743200" cy="4572000"/>
          </a:xfrm>
          <a:prstGeom prst="rect">
            <a:avLst/>
          </a:prstGeom>
        </p:spPr>
      </p:pic>
      <p:pic>
        <p:nvPicPr>
          <p:cNvPr id="7" name="image7.jpg" descr="Seafood tanks"/>
          <p:cNvPicPr>
            <a:picLocks noChangeAspect="1"/>
          </p:cNvPicPr>
          <p:nvPr/>
        </p:nvPicPr>
        <p:blipFill>
          <a:blip r:embed="rIdImg2"/>
          <a:srcRect t="27613" b="27613"/>
          <a:stretch>
            <a:fillRect/>
          </a:stretch>
        </p:blipFill>
        <p:spPr>
          <a:xfrm>
            <a:off x="3429000" y="2743200"/>
            <a:ext cx="2926080" cy="2176272"/>
          </a:xfrm>
          <a:prstGeom prst="rect">
            <a:avLst/>
          </a:prstGeom>
        </p:spPr>
      </p:pic>
      <p:pic>
        <p:nvPicPr>
          <p:cNvPr id="8" name="image8.jpg" descr="Fruit stand"/>
          <p:cNvPicPr>
            <a:picLocks noChangeAspect="1"/>
          </p:cNvPicPr>
          <p:nvPr/>
        </p:nvPicPr>
        <p:blipFill>
          <a:blip r:embed="rIdImg3"/>
          <a:srcRect t="25084" b="25084"/>
          <a:stretch>
            <a:fillRect/>
          </a:stretch>
        </p:blipFill>
        <p:spPr>
          <a:xfrm>
            <a:off x="3429000" y="5138928"/>
            <a:ext cx="2926080" cy="2176272"/>
          </a:xfrm>
          <a:prstGeom prst="rect">
            <a:avLst/>
          </a:prstGeom>
        </p:spPr>
      </p:pic>
      <p:sp>
        <p:nvSpPr>
          <p:cNvPr id="9" name="Shape 9"/>
          <p:cNvSpPr/>
          <p:nvPr/>
        </p:nvSpPr>
        <p:spPr>
          <a:xfrm>
            <a:off x="640080" y="7909560"/>
            <a:ext cx="5577840" cy="196596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896112" y="81838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00" b="1" dirty="0">
                <a:solidFill>
                  <a:srgbClr val="FFF8E8"/>
                </a:solidFill>
                <a:latin typeface="Aptos"/>
                <a:ea typeface="PingFang SC"/>
              </a:rPr>
              <a:t>Shopping is part of the story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96112" y="8613648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2000"/>
              </a:lnSpc>
            </a:pPr>
            <a:r>
              <a:rPr lang="en-US" sz="1200" dirty="0">
                <a:solidFill>
                  <a:srgbClr val="DFECE5"/>
                </a:solidFill>
                <a:latin typeface="Aptos"/>
                <a:ea typeface="PingFang SC"/>
              </a:rPr>
              <a:t>It lets guests connect the final bite with texture, aroma, seasonality, and the everyday habits of a Shanghai neighborhood market.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BF8EF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51206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50" b="1" dirty="0">
                <a:solidFill>
                  <a:srgbClr val="B84332"/>
                </a:solidFill>
                <a:latin typeface="Aptos"/>
                <a:ea typeface="PingFang SC"/>
              </a:rPr>
              <a:t>HOME-STYLE KITCHEN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841248"/>
            <a:ext cx="5852160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700" b="1" dirty="0">
                <a:solidFill>
                  <a:srgbClr val="20221C"/>
                </a:solidFill>
                <a:latin typeface="Georgia"/>
                <a:ea typeface="Songti SC"/>
              </a:rPr>
              <a:t>在上海本地家庭厨房里，亲手完成一笼小笼包。</a:t>
            </a:r>
          </a:p>
        </p:txBody>
      </p:sp>
      <p:pic>
        <p:nvPicPr>
          <p:cNvPr id="5" name="image9.jpg" descr="Private kitchen wide view"/>
          <p:cNvPicPr>
            <a:picLocks noChangeAspect="1"/>
          </p:cNvPicPr>
          <p:nvPr/>
        </p:nvPicPr>
        <p:blipFill>
          <a:blip r:embed="rIdImg1"/>
          <a:srcRect t="13021" b="13021"/>
          <a:stretch>
            <a:fillRect/>
          </a:stretch>
        </p:blipFill>
        <p:spPr>
          <a:xfrm>
            <a:off x="502920" y="2057400"/>
            <a:ext cx="5852160" cy="3246120"/>
          </a:xfrm>
          <a:prstGeom prst="rect">
            <a:avLst/>
          </a:prstGeom>
        </p:spPr>
      </p:pic>
      <p:pic>
        <p:nvPicPr>
          <p:cNvPr id="6" name="image10.jpg" descr="Kitchen stove"/>
          <p:cNvPicPr>
            <a:picLocks noChangeAspect="1"/>
          </p:cNvPicPr>
          <p:nvPr/>
        </p:nvPicPr>
        <p:blipFill>
          <a:blip r:embed="rIdImg2"/>
          <a:srcRect t="17418" b="17418"/>
          <a:stretch>
            <a:fillRect/>
          </a:stretch>
        </p:blipFill>
        <p:spPr>
          <a:xfrm>
            <a:off x="502920" y="5532120"/>
            <a:ext cx="2788920" cy="2423160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3520440" y="5532120"/>
            <a:ext cx="2834640" cy="2423160"/>
          </a:xfrm>
          <a:prstGeom prst="rect">
            <a:avLst/>
          </a:prstGeom>
          <a:solidFill>
            <a:srgbClr val="315C45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3749040" y="5833872"/>
            <a:ext cx="233172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05000"/>
              </a:lnSpc>
            </a:pPr>
            <a:r>
              <a:rPr lang="en-US" sz="1800" b="1" dirty="0">
                <a:solidFill>
                  <a:srgbClr val="FFF8E8"/>
                </a:solidFill>
                <a:latin typeface="Aptos"/>
                <a:ea typeface="PingFang SC"/>
              </a:rPr>
              <a:t>16:00</a:t>
            </a:r>
          </a:p>
          <a:p>
            <a:pPr algn="l">
              <a:lnSpc>
                <a:spcPct val="105000"/>
              </a:lnSpc>
            </a:pPr>
            <a:r>
              <a:rPr lang="en-US" sz="1800" b="1" dirty="0">
                <a:solidFill>
                  <a:srgbClr val="FFF8E8"/>
                </a:solidFill>
                <a:latin typeface="Aptos"/>
                <a:ea typeface="PingFang SC"/>
              </a:rPr>
              <a:t>Auntie demo + hands-on practice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3749040" y="6876288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50" dirty="0">
                <a:solidFill>
                  <a:srgbClr val="DAE7DC"/>
                </a:solidFill>
                <a:latin typeface="Aptos"/>
                <a:ea typeface="PingFang SC"/>
              </a:rPr>
              <a:t>调馅、包褶、蒸制</a:t>
            </a:r>
          </a:p>
          <a:p>
            <a:pPr algn="l"/>
            <a:r>
              <a:rPr lang="en-US" sz="1250" dirty="0">
                <a:solidFill>
                  <a:srgbClr val="DAE7DC"/>
                </a:solidFill>
                <a:latin typeface="Aptos"/>
                <a:ea typeface="PingFang SC"/>
              </a:rPr>
              <a:t>Filling, pleating, steaming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85800" y="8430768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</a:pPr>
            <a:r>
              <a:rPr lang="en-US" sz="1400" dirty="0">
                <a:solidFill>
                  <a:srgbClr val="596058"/>
                </a:solidFill>
                <a:latin typeface="Aptos"/>
                <a:ea typeface="PingFang SC"/>
              </a:rPr>
              <a:t>The private setting keeps the experience warm and personal: guests can ask questions, compare their own folds, and sit down around a family table instead of a classroom counter.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BF8EF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51206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50" b="1" dirty="0">
                <a:solidFill>
                  <a:srgbClr val="B84332"/>
                </a:solidFill>
                <a:latin typeface="Aptos"/>
                <a:ea typeface="PingFang SC"/>
              </a:rPr>
              <a:t>NEARBY MAP GUIDE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841248"/>
            <a:ext cx="5852160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700" b="1" dirty="0">
                <a:solidFill>
                  <a:srgbClr val="20221C"/>
                </a:solidFill>
                <a:latin typeface="Georgia"/>
                <a:ea typeface="Songti SC"/>
              </a:rPr>
              <a:t>体验前后，可以顺路感受这一带的上海。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1737360"/>
            <a:ext cx="58064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8000"/>
              </a:lnSpc>
            </a:pPr>
            <a:r>
              <a:rPr lang="en-US" sz="1350" dirty="0">
                <a:solidFill>
                  <a:srgbClr val="596058"/>
                </a:solidFill>
                <a:latin typeface="Aptos"/>
                <a:ea typeface="PingFang SC"/>
              </a:rPr>
              <a:t>Optional neighborhood strolls for guests to enjoy on their own before or after the hosted experience. They are not part of the 4-hour guided program.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2743200"/>
            <a:ext cx="5852160" cy="242316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E2DDD2"/>
            </a:solidFill>
          </a:ln>
        </p:spPr>
      </p:sp>
      <p:pic>
        <p:nvPicPr>
          <p:cNvPr id="7" name="image11.jpg" descr="武康路 Wukang Road"/>
          <p:cNvPicPr>
            <a:picLocks noChangeAspect="1"/>
          </p:cNvPicPr>
          <p:nvPr/>
        </p:nvPicPr>
        <p:blipFill>
          <a:blip r:embed="rIdImg1"/>
          <a:srcRect t="12300" b="12300"/>
          <a:stretch>
            <a:fillRect/>
          </a:stretch>
        </p:blipFill>
        <p:spPr>
          <a:xfrm>
            <a:off x="713232" y="2944368"/>
            <a:ext cx="1965960" cy="1965960"/>
          </a:xfrm>
          <a:prstGeom prst="rect">
            <a:avLst/>
          </a:prstGeom>
        </p:spPr>
      </p:pic>
      <p:sp>
        <p:nvSpPr>
          <p:cNvPr id="8" name="Shape 8"/>
          <p:cNvSpPr/>
          <p:nvPr/>
        </p:nvSpPr>
        <p:spPr>
          <a:xfrm>
            <a:off x="2907792" y="2971800"/>
            <a:ext cx="1600200" cy="292608"/>
          </a:xfrm>
          <a:prstGeom prst="roundRect">
            <a:avLst/>
          </a:prstGeom>
          <a:solidFill>
            <a:srgbClr val="E9EFE7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3072384" y="3026664"/>
            <a:ext cx="1307592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en-US" sz="950" b="1" dirty="0">
                <a:solidFill>
                  <a:srgbClr val="315C45"/>
                </a:solidFill>
                <a:latin typeface="Aptos"/>
                <a:ea typeface="PingFang SC"/>
              </a:rPr>
              <a:t>1.1 km | 30-45 min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2907792" y="3438144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50" b="1" dirty="0">
                <a:solidFill>
                  <a:srgbClr val="315C45"/>
                </a:solidFill>
                <a:latin typeface="Aptos"/>
                <a:ea typeface="PingFang SC"/>
              </a:rPr>
              <a:t>武康路 Wukang Road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2907792" y="3840480"/>
            <a:ext cx="3154680" cy="85953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0000"/>
              </a:lnSpc>
            </a:pPr>
            <a:r>
              <a:rPr lang="en-US" sz="1050" dirty="0">
                <a:solidFill>
                  <a:srgbClr val="596058"/>
                </a:solidFill>
                <a:latin typeface="Aptos"/>
                <a:ea typeface="PingFang SC"/>
              </a:rPr>
              <a:t>Less than 1.2 km long, a compact index of Shanghai's modern history with former residences, plane trees, and old villas.</a:t>
            </a:r>
          </a:p>
        </p:txBody>
      </p:sp>
      <p:sp>
        <p:nvSpPr>
          <p:cNvPr id="12" name="Shape 12"/>
          <p:cNvSpPr/>
          <p:nvPr/>
        </p:nvSpPr>
        <p:spPr>
          <a:xfrm>
            <a:off x="502920" y="5394960"/>
            <a:ext cx="5852160" cy="242316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E2DDD2"/>
            </a:solidFill>
          </a:ln>
        </p:spPr>
      </p:sp>
      <p:pic>
        <p:nvPicPr>
          <p:cNvPr id="13" name="image12.jpg" descr="华山绿地 &amp; 幸福路"/>
          <p:cNvPicPr>
            <a:picLocks noChangeAspect="1"/>
          </p:cNvPicPr>
          <p:nvPr/>
        </p:nvPicPr>
        <p:blipFill>
          <a:blip r:embed="rIdImg2"/>
          <a:srcRect t="12000" b="12000"/>
          <a:stretch>
            <a:fillRect/>
          </a:stretch>
        </p:blipFill>
        <p:spPr>
          <a:xfrm>
            <a:off x="713232" y="5596128"/>
            <a:ext cx="1965960" cy="1965960"/>
          </a:xfrm>
          <a:prstGeom prst="rect">
            <a:avLst/>
          </a:prstGeom>
        </p:spPr>
      </p:pic>
      <p:sp>
        <p:nvSpPr>
          <p:cNvPr id="14" name="Shape 14"/>
          <p:cNvSpPr/>
          <p:nvPr/>
        </p:nvSpPr>
        <p:spPr>
          <a:xfrm>
            <a:off x="2907792" y="5623560"/>
            <a:ext cx="1600200" cy="292608"/>
          </a:xfrm>
          <a:prstGeom prst="roundRect">
            <a:avLst/>
          </a:prstGeom>
          <a:solidFill>
            <a:srgbClr val="E9EFE7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3072384" y="5678424"/>
            <a:ext cx="1307592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en-US" sz="950" b="1" dirty="0">
                <a:solidFill>
                  <a:srgbClr val="315C45"/>
                </a:solidFill>
                <a:latin typeface="Aptos"/>
                <a:ea typeface="PingFang SC"/>
              </a:rPr>
              <a:t>1.2 km | 30-45 min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2907792" y="6089904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50" b="1" dirty="0">
                <a:solidFill>
                  <a:srgbClr val="315C45"/>
                </a:solidFill>
                <a:latin typeface="Aptos"/>
                <a:ea typeface="PingFang SC"/>
              </a:rPr>
              <a:t>华山绿地 &amp; 幸福路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2907792" y="6492240"/>
            <a:ext cx="3154680" cy="85953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0000"/>
              </a:lnSpc>
            </a:pPr>
            <a:r>
              <a:rPr lang="en-US" sz="1050" dirty="0">
                <a:solidFill>
                  <a:srgbClr val="596058"/>
                </a:solidFill>
                <a:latin typeface="Aptos"/>
                <a:ea typeface="PingFang SC"/>
              </a:rPr>
              <a:t>A romantic green pocket with the pink Xi Bridge. Nearby Xingfu Road adds the meaning of happiness, vows, and a softer side of Shanghai.</a:t>
            </a:r>
          </a:p>
        </p:txBody>
      </p:sp>
      <p:sp>
        <p:nvSpPr>
          <p:cNvPr id="18" name="Shape 18"/>
          <p:cNvSpPr/>
          <p:nvPr/>
        </p:nvSpPr>
        <p:spPr>
          <a:xfrm>
            <a:off x="502920" y="8046720"/>
            <a:ext cx="5852160" cy="242316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E2DDD2"/>
            </a:solidFill>
          </a:ln>
        </p:spPr>
      </p:sp>
      <p:pic>
        <p:nvPicPr>
          <p:cNvPr id="19" name="image13.jpg" descr="徐家汇 Xujiahui"/>
          <p:cNvPicPr>
            <a:picLocks noChangeAspect="1"/>
          </p:cNvPicPr>
          <p:nvPr/>
        </p:nvPicPr>
        <p:blipFill>
          <a:blip r:embed="rIdImg3"/>
          <a:srcRect l="27850" r="27850"/>
          <a:stretch>
            <a:fillRect/>
          </a:stretch>
        </p:blipFill>
        <p:spPr>
          <a:xfrm>
            <a:off x="713232" y="8247888"/>
            <a:ext cx="1965960" cy="1965960"/>
          </a:xfrm>
          <a:prstGeom prst="rect">
            <a:avLst/>
          </a:prstGeom>
        </p:spPr>
      </p:pic>
      <p:sp>
        <p:nvSpPr>
          <p:cNvPr id="20" name="Shape 20"/>
          <p:cNvSpPr/>
          <p:nvPr/>
        </p:nvSpPr>
        <p:spPr>
          <a:xfrm>
            <a:off x="2907792" y="8275320"/>
            <a:ext cx="1600200" cy="292608"/>
          </a:xfrm>
          <a:prstGeom prst="roundRect">
            <a:avLst/>
          </a:prstGeom>
          <a:solidFill>
            <a:srgbClr val="E9EFE7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3072384" y="8330184"/>
            <a:ext cx="1307592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en-US" sz="950" b="1" dirty="0">
                <a:solidFill>
                  <a:srgbClr val="315C45"/>
                </a:solidFill>
                <a:latin typeface="Aptos"/>
                <a:ea typeface="PingFang SC"/>
              </a:rPr>
              <a:t>1 km | 45-60 min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2907792" y="8741664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50" b="1" dirty="0">
                <a:solidFill>
                  <a:srgbClr val="315C45"/>
                </a:solidFill>
                <a:latin typeface="Aptos"/>
                <a:ea typeface="PingFang SC"/>
              </a:rPr>
              <a:t>徐家汇 Xujiahui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2907792" y="9144000"/>
            <a:ext cx="3154680" cy="85953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0000"/>
              </a:lnSpc>
            </a:pPr>
            <a:r>
              <a:rPr lang="en-US" sz="1050" dirty="0">
                <a:solidFill>
                  <a:srgbClr val="596058"/>
                </a:solidFill>
                <a:latin typeface="Aptos"/>
                <a:ea typeface="PingFang SC"/>
              </a:rPr>
              <a:t>A nearby commercial hub with malls, cafes, and an elevated pedestrian bridge for evening city lights. Xujiahui Park works as a daytime green alternative.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3E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51206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50" b="1" dirty="0">
                <a:solidFill>
                  <a:srgbClr val="B84332"/>
                </a:solidFill>
                <a:latin typeface="Aptos"/>
                <a:ea typeface="PingFang SC"/>
              </a:rPr>
              <a:t>BUDGET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841248"/>
            <a:ext cx="5852160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700" b="1" dirty="0">
                <a:solidFill>
                  <a:srgbClr val="20221C"/>
                </a:solidFill>
                <a:latin typeface="Georgia"/>
                <a:ea typeface="Songti SC"/>
              </a:rPr>
              <a:t>预算与包含项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1737360"/>
            <a:ext cx="58064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8000"/>
              </a:lnSpc>
            </a:pPr>
            <a:r>
              <a:rPr lang="en-US" sz="1350" dirty="0">
                <a:solidFill>
                  <a:srgbClr val="596058"/>
                </a:solidFill>
                <a:latin typeface="Aptos"/>
                <a:ea typeface="PingFang SC"/>
              </a:rPr>
              <a:t>A compact private experience for 3-4 guests, designed around real local access rather than a standard cooking classroom.</a:t>
            </a:r>
          </a:p>
        </p:txBody>
      </p:sp>
      <p:sp>
        <p:nvSpPr>
          <p:cNvPr id="6" name="Shape 6"/>
          <p:cNvSpPr/>
          <p:nvPr/>
        </p:nvSpPr>
        <p:spPr>
          <a:xfrm>
            <a:off x="530352" y="2788920"/>
            <a:ext cx="5806440" cy="626364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E6C5BB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914400" y="3246120"/>
            <a:ext cx="50749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3600" b="1" dirty="0">
                <a:solidFill>
                  <a:srgbClr val="B84332"/>
                </a:solidFill>
                <a:latin typeface="Georgia"/>
                <a:ea typeface="PingFang SC"/>
              </a:rPr>
              <a:t>RMB 4,000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932688" y="4041648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100" b="1" dirty="0">
                <a:solidFill>
                  <a:srgbClr val="596058"/>
                </a:solidFill>
                <a:latin typeface="Aptos"/>
                <a:ea typeface="PingFang SC"/>
              </a:rPr>
              <a:t>Total budget for 3-4 guests | 3-4 位客人总预算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32688" y="4736592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 dirty="0">
                <a:solidFill>
                  <a:srgbClr val="6B8F3D"/>
                </a:solidFill>
                <a:latin typeface="Aptos"/>
                <a:ea typeface="PingFang SC"/>
              </a:rPr>
              <a:t>✓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261872" y="4736592"/>
            <a:ext cx="4681728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08000"/>
              </a:lnSpc>
            </a:pPr>
            <a:r>
              <a:rPr lang="en-US" sz="1270" dirty="0">
                <a:solidFill>
                  <a:srgbClr val="596058"/>
                </a:solidFill>
                <a:latin typeface="Aptos"/>
                <a:ea typeface="PingFang SC"/>
              </a:rPr>
              <a:t>Fuchun xiaolongbao light tasting | 富春小笼少量品尝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932688" y="5431536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 dirty="0">
                <a:solidFill>
                  <a:srgbClr val="6B8F3D"/>
                </a:solidFill>
                <a:latin typeface="Aptos"/>
                <a:ea typeface="PingFang SC"/>
              </a:rPr>
              <a:t>✓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261872" y="5431536"/>
            <a:ext cx="4681728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08000"/>
              </a:lnSpc>
            </a:pPr>
            <a:r>
              <a:rPr lang="en-US" sz="1270" dirty="0">
                <a:solidFill>
                  <a:srgbClr val="596058"/>
                </a:solidFill>
                <a:latin typeface="Aptos"/>
                <a:ea typeface="PingFang SC"/>
              </a:rPr>
              <a:t>Guangyuan Wet Market ingredient purchase | 广元菜场食材采购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32688" y="6126480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 dirty="0">
                <a:solidFill>
                  <a:srgbClr val="6B8F3D"/>
                </a:solidFill>
                <a:latin typeface="Aptos"/>
                <a:ea typeface="PingFang SC"/>
              </a:rPr>
              <a:t>✓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261872" y="6126480"/>
            <a:ext cx="4681728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08000"/>
              </a:lnSpc>
            </a:pPr>
            <a:r>
              <a:rPr lang="en-US" sz="1270" dirty="0">
                <a:solidFill>
                  <a:srgbClr val="596058"/>
                </a:solidFill>
                <a:latin typeface="Aptos"/>
                <a:ea typeface="PingFang SC"/>
              </a:rPr>
              <a:t>Private home-style kitchen access | 私人家庭式厨房空间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932688" y="6821424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 dirty="0">
                <a:solidFill>
                  <a:srgbClr val="6B8F3D"/>
                </a:solidFill>
                <a:latin typeface="Aptos"/>
                <a:ea typeface="PingFang SC"/>
              </a:rPr>
              <a:t>✓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261872" y="6821424"/>
            <a:ext cx="4681728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08000"/>
              </a:lnSpc>
            </a:pPr>
            <a:r>
              <a:rPr lang="en-US" sz="1270" dirty="0">
                <a:solidFill>
                  <a:srgbClr val="596058"/>
                </a:solidFill>
                <a:latin typeface="Aptos"/>
                <a:ea typeface="PingFang SC"/>
              </a:rPr>
              <a:t>Shanghainese auntie cooking guidance | 上海阿姨手把手教学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932688" y="7516368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1" dirty="0">
                <a:solidFill>
                  <a:srgbClr val="6B8F3D"/>
                </a:solidFill>
                <a:latin typeface="Aptos"/>
                <a:ea typeface="PingFang SC"/>
              </a:rPr>
              <a:t>✓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261872" y="7516368"/>
            <a:ext cx="4681728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08000"/>
              </a:lnSpc>
            </a:pPr>
            <a:r>
              <a:rPr lang="en-US" sz="1270" dirty="0">
                <a:solidFill>
                  <a:srgbClr val="596058"/>
                </a:solidFill>
                <a:latin typeface="Aptos"/>
                <a:ea typeface="PingFang SC"/>
              </a:rPr>
              <a:t>Bilingual guiding, planning, and on-site hosting | 中英双语陪同、策划与现场执行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BF8EF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51206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50" b="1" dirty="0">
                <a:solidFill>
                  <a:srgbClr val="B84332"/>
                </a:solidFill>
                <a:latin typeface="Aptos"/>
                <a:ea typeface="PingFang SC"/>
              </a:rPr>
              <a:t>PRACTICAL NOTES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841248"/>
            <a:ext cx="5852160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700" b="1" dirty="0">
                <a:solidFill>
                  <a:srgbClr val="20221C"/>
                </a:solidFill>
                <a:latin typeface="Georgia"/>
                <a:ea typeface="Songti SC"/>
              </a:rPr>
              <a:t>天气、排队与确认事项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1737360"/>
            <a:ext cx="58064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8000"/>
              </a:lnSpc>
            </a:pPr>
            <a:r>
              <a:rPr lang="en-US" sz="1350" dirty="0">
                <a:solidFill>
                  <a:srgbClr val="596058"/>
                </a:solidFill>
                <a:latin typeface="Aptos"/>
                <a:ea typeface="PingFang SC"/>
              </a:rPr>
              <a:t>Shanghai in mid-June can be warm and rainy. The experience keeps walking short and uses indoor spaces as the anchor.</a:t>
            </a:r>
          </a:p>
        </p:txBody>
      </p:sp>
      <p:sp>
        <p:nvSpPr>
          <p:cNvPr id="6" name="Shape 6"/>
          <p:cNvSpPr/>
          <p:nvPr/>
        </p:nvSpPr>
        <p:spPr>
          <a:xfrm>
            <a:off x="640080" y="2834640"/>
            <a:ext cx="5577840" cy="1691640"/>
          </a:xfrm>
          <a:prstGeom prst="roundRect">
            <a:avLst/>
          </a:prstGeom>
          <a:solidFill>
            <a:srgbClr val="F7EEDB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640080" y="2834640"/>
            <a:ext cx="73152" cy="1691640"/>
          </a:xfrm>
          <a:prstGeom prst="rect">
            <a:avLst/>
          </a:prstGeom>
          <a:solidFill>
            <a:srgbClr val="B27A2D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932688" y="309067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50" b="1" dirty="0">
                <a:solidFill>
                  <a:srgbClr val="20221C"/>
                </a:solidFill>
                <a:latin typeface="Aptos"/>
                <a:ea typeface="PingFang SC"/>
              </a:rPr>
              <a:t>Fuchun crowd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32688" y="3520440"/>
            <a:ext cx="49834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2000"/>
              </a:lnSpc>
            </a:pPr>
            <a:r>
              <a:rPr lang="en-US" sz="1230" dirty="0">
                <a:solidFill>
                  <a:srgbClr val="596058"/>
                </a:solidFill>
                <a:latin typeface="Aptos"/>
                <a:ea typeface="PingFang SC"/>
              </a:rPr>
              <a:t>If Fuchun is crowded, keep the tasting light, use takeaway if needed, and move quickly into the market section.</a:t>
            </a:r>
          </a:p>
        </p:txBody>
      </p:sp>
      <p:sp>
        <p:nvSpPr>
          <p:cNvPr id="10" name="Shape 10"/>
          <p:cNvSpPr/>
          <p:nvPr/>
        </p:nvSpPr>
        <p:spPr>
          <a:xfrm>
            <a:off x="640080" y="4882896"/>
            <a:ext cx="5577840" cy="1691640"/>
          </a:xfrm>
          <a:prstGeom prst="roundRect">
            <a:avLst/>
          </a:prstGeom>
          <a:solidFill>
            <a:srgbClr val="F7EEDB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640080" y="4882896"/>
            <a:ext cx="73152" cy="1691640"/>
          </a:xfrm>
          <a:prstGeom prst="rect">
            <a:avLst/>
          </a:prstGeom>
          <a:solidFill>
            <a:srgbClr val="B27A2D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932688" y="5138928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50" b="1" dirty="0">
                <a:solidFill>
                  <a:srgbClr val="20221C"/>
                </a:solidFill>
                <a:latin typeface="Aptos"/>
                <a:ea typeface="PingFang SC"/>
              </a:rPr>
              <a:t>Rain or heat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32688" y="5568696"/>
            <a:ext cx="49834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2000"/>
              </a:lnSpc>
            </a:pPr>
            <a:r>
              <a:rPr lang="en-US" sz="1230" dirty="0">
                <a:solidFill>
                  <a:srgbClr val="596058"/>
                </a:solidFill>
                <a:latin typeface="Aptos"/>
                <a:ea typeface="PingFang SC"/>
              </a:rPr>
              <a:t>If it rains or feels too hot, optional neighborhood walking is reduced. The main experience remains Fuchun, market, kitchen, and tasting.</a:t>
            </a:r>
          </a:p>
        </p:txBody>
      </p:sp>
      <p:sp>
        <p:nvSpPr>
          <p:cNvPr id="14" name="Shape 14"/>
          <p:cNvSpPr/>
          <p:nvPr/>
        </p:nvSpPr>
        <p:spPr>
          <a:xfrm>
            <a:off x="640080" y="6931152"/>
            <a:ext cx="5577840" cy="1691640"/>
          </a:xfrm>
          <a:prstGeom prst="roundRect">
            <a:avLst/>
          </a:prstGeom>
          <a:solidFill>
            <a:srgbClr val="F7EEDB"/>
          </a:solidFill>
          <a:ln>
            <a:noFill/>
          </a:ln>
        </p:spPr>
      </p:sp>
      <p:sp>
        <p:nvSpPr>
          <p:cNvPr id="15" name="Shape 15"/>
          <p:cNvSpPr/>
          <p:nvPr/>
        </p:nvSpPr>
        <p:spPr>
          <a:xfrm>
            <a:off x="640080" y="6931152"/>
            <a:ext cx="73152" cy="1691640"/>
          </a:xfrm>
          <a:prstGeom prst="rect">
            <a:avLst/>
          </a:prstGeom>
          <a:solidFill>
            <a:srgbClr val="B27A2D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932688" y="7187184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50" b="1" dirty="0">
                <a:solidFill>
                  <a:srgbClr val="20221C"/>
                </a:solidFill>
                <a:latin typeface="Aptos"/>
                <a:ea typeface="PingFang SC"/>
              </a:rPr>
              <a:t>Before final confirmation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932688" y="7616952"/>
            <a:ext cx="49834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2000"/>
              </a:lnSpc>
            </a:pPr>
            <a:r>
              <a:rPr lang="en-US" sz="1230" dirty="0">
                <a:solidFill>
                  <a:srgbClr val="596058"/>
                </a:solidFill>
                <a:latin typeface="Aptos"/>
                <a:ea typeface="PingFang SC"/>
              </a:rPr>
              <a:t>Verify the Fuchun branch, Guangyuan market afternoon ingredient condition, and auntie/kitchen availability for June 13.</a:t>
            </a:r>
          </a:p>
        </p:txBody>
      </p:sp>
      <p:pic>
        <p:nvPicPr>
          <p:cNvPr id="18" name="image14.jpg" descr="Market flower stand"/>
          <p:cNvPicPr>
            <a:picLocks noChangeAspect="1"/>
          </p:cNvPicPr>
          <p:nvPr/>
        </p:nvPicPr>
        <p:blipFill>
          <a:blip r:embed="rIdImg1"/>
          <a:srcRect t="30741" b="30741"/>
          <a:stretch>
            <a:fillRect/>
          </a:stretch>
        </p:blipFill>
        <p:spPr>
          <a:xfrm>
            <a:off x="640080" y="9189720"/>
            <a:ext cx="2651760" cy="1508760"/>
          </a:xfrm>
          <a:prstGeom prst="rect">
            <a:avLst/>
          </a:prstGeom>
        </p:spPr>
      </p:pic>
      <p:pic>
        <p:nvPicPr>
          <p:cNvPr id="19" name="image15.jpg" descr="Market meat counter"/>
          <p:cNvPicPr>
            <a:picLocks noChangeAspect="1"/>
          </p:cNvPicPr>
          <p:nvPr/>
        </p:nvPicPr>
        <p:blipFill>
          <a:blip r:embed="rIdImg2"/>
          <a:srcRect t="33102" b="33102"/>
          <a:stretch>
            <a:fillRect/>
          </a:stretch>
        </p:blipFill>
        <p:spPr>
          <a:xfrm>
            <a:off x="3566160" y="9189720"/>
            <a:ext cx="26517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20221C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51206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50" b="1" dirty="0">
                <a:solidFill>
                  <a:srgbClr val="FFF8E8"/>
                </a:solidFill>
                <a:latin typeface="Aptos"/>
                <a:ea typeface="PingFang SC"/>
              </a:rPr>
              <a:t>HOSTED BY LU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841248"/>
            <a:ext cx="5852160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700" b="1" dirty="0">
                <a:solidFill>
                  <a:srgbClr val="FFF8E8"/>
                </a:solidFill>
                <a:latin typeface="Georgia"/>
                <a:ea typeface="Songti SC"/>
              </a:rPr>
              <a:t>把上海真正生活着的一面，带给第一次来到中国的客人。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1737360"/>
            <a:ext cx="58064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8000"/>
              </a:lnSpc>
            </a:pPr>
            <a:r>
              <a:rPr lang="en-US" sz="1350" dirty="0">
                <a:solidFill>
                  <a:srgbClr val="D6E4E4"/>
                </a:solidFill>
                <a:latin typeface="Aptos"/>
                <a:ea typeface="PingFang SC"/>
              </a:rPr>
              <a:t>Lu has lived in Shanghai for 10 years. With a background in brand marketing and years of vlogging, she knows the city's main streets, side lanes, markets, riversides, and everyday food scenes.</a:t>
            </a:r>
          </a:p>
        </p:txBody>
      </p:sp>
      <p:pic>
        <p:nvPicPr>
          <p:cNvPr id="6" name="image16.jpg" descr="Lu portrait"/>
          <p:cNvPicPr>
            <a:picLocks noChangeAspect="1"/>
          </p:cNvPicPr>
          <p:nvPr/>
        </p:nvPicPr>
        <p:blipFill>
          <a:blip r:embed="rIdImg1"/>
          <a:srcRect l="5559" r="5559"/>
          <a:stretch>
            <a:fillRect/>
          </a:stretch>
        </p:blipFill>
        <p:spPr>
          <a:xfrm>
            <a:off x="502920" y="2834640"/>
            <a:ext cx="2514600" cy="3886200"/>
          </a:xfrm>
          <a:prstGeom prst="rect">
            <a:avLst/>
          </a:prstGeom>
        </p:spPr>
      </p:pic>
      <p:pic>
        <p:nvPicPr>
          <p:cNvPr id="7" name="image17.jpg" descr="Lu with guest"/>
          <p:cNvPicPr>
            <a:picLocks noChangeAspect="1"/>
          </p:cNvPicPr>
          <p:nvPr/>
        </p:nvPicPr>
        <p:blipFill>
          <a:blip r:embed="rIdImg2"/>
          <a:srcRect t="4565" b="4565"/>
          <a:stretch>
            <a:fillRect/>
          </a:stretch>
        </p:blipFill>
        <p:spPr>
          <a:xfrm>
            <a:off x="3182112" y="2377440"/>
            <a:ext cx="3154680" cy="4343400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621792" y="7187184"/>
            <a:ext cx="557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3000"/>
              </a:lnSpc>
            </a:pPr>
            <a:r>
              <a:rPr lang="en-US" sz="1260" dirty="0">
                <a:solidFill>
                  <a:srgbClr val="E6E1D1"/>
                </a:solidFill>
                <a:latin typeface="Aptos"/>
                <a:ea typeface="PingFang SC"/>
              </a:rPr>
              <a:t>Many travelers' first idea of Chinese food comes from Chinese restaurants in their own hometowns. Once they arrive in China, Lu hopes to offer something more local and specific: the way people actually shop, cook, eat, and talk around a table.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21792" y="8549640"/>
            <a:ext cx="55778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3000"/>
              </a:lnSpc>
            </a:pPr>
            <a:r>
              <a:rPr lang="en-US" sz="1280" dirty="0">
                <a:solidFill>
                  <a:srgbClr val="E6E1D1"/>
                </a:solidFill>
                <a:latin typeface="Aptos"/>
                <a:ea typeface="PingFang SC"/>
              </a:rPr>
              <a:t>常驻上海 10 年，Lu 熟悉上海的大街小巷，也擅长把本地美食和文化特色转译给海外游客。相比只去网红景点，她更希望让客人进入真实的本地生活。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21792" y="9893808"/>
            <a:ext cx="55778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350" b="1" dirty="0">
                <a:solidFill>
                  <a:srgbClr val="FFF8E8"/>
                </a:solidFill>
                <a:latin typeface="Aptos"/>
                <a:ea typeface="PingFang SC"/>
              </a:rPr>
              <a:t>Food first, then family kitchens, neighborhood markets, and the small cultural details that make a city feel personal.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20221C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02920" y="51206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50" b="1" dirty="0">
                <a:solidFill>
                  <a:srgbClr val="FFF8E8"/>
                </a:solidFill>
                <a:latin typeface="Aptos"/>
                <a:ea typeface="PingFang SC"/>
              </a:rPr>
              <a:t>LINKS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841248"/>
            <a:ext cx="5852160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700" b="1" dirty="0">
                <a:solidFill>
                  <a:srgbClr val="FFF8E8"/>
                </a:solidFill>
                <a:latin typeface="Georgia"/>
                <a:ea typeface="Songti SC"/>
              </a:rPr>
              <a:t>视频与地图参考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1737360"/>
            <a:ext cx="58064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8000"/>
              </a:lnSpc>
            </a:pPr>
            <a:r>
              <a:rPr lang="en-US" sz="1350" dirty="0">
                <a:solidFill>
                  <a:srgbClr val="D6E4E4"/>
                </a:solidFill>
                <a:latin typeface="Aptos"/>
                <a:ea typeface="PingFang SC"/>
              </a:rPr>
              <a:t>Clickable references for guests or the travel planner.</a:t>
            </a:r>
          </a:p>
        </p:txBody>
      </p:sp>
      <p:sp>
        <p:nvSpPr>
          <p:cNvPr id="6" name="Shape 6"/>
          <p:cNvSpPr/>
          <p:nvPr/>
        </p:nvSpPr>
        <p:spPr>
          <a:xfrm>
            <a:off x="640080" y="2971800"/>
            <a:ext cx="5577840" cy="1234440"/>
          </a:xfrm>
          <a:prstGeom prst="round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B27A2D">
                <a:alpha val="28000"/>
              </a:srgbClr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914400" y="3246120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50" b="1" dirty="0">
                <a:solidFill>
                  <a:srgbClr val="FFF8E8"/>
                </a:solidFill>
                <a:latin typeface="Aptos"/>
                <a:ea typeface="PingFang SC"/>
                <a:hlinkClick r:id="rIdLink1"/>
              </a:rPr>
              <a:t>Private Shanghai Food Culture Experience Map Guide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914400" y="3685032"/>
            <a:ext cx="5074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50" dirty="0">
                <a:solidFill>
                  <a:srgbClr val="BFC7C1"/>
                </a:solidFill>
                <a:latin typeface="Aptos"/>
                <a:ea typeface="PingFang SC"/>
              </a:rPr>
              <a:t>Gaode / Amap route collection</a:t>
            </a:r>
          </a:p>
        </p:txBody>
      </p:sp>
      <p:sp>
        <p:nvSpPr>
          <p:cNvPr id="9" name="Shape 9"/>
          <p:cNvSpPr/>
          <p:nvPr/>
        </p:nvSpPr>
        <p:spPr>
          <a:xfrm>
            <a:off x="640080" y="4572000"/>
            <a:ext cx="5577840" cy="1234440"/>
          </a:xfrm>
          <a:prstGeom prst="round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B27A2D">
                <a:alpha val="28000"/>
              </a:srgbClr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914400" y="4846320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50" b="1" dirty="0">
                <a:solidFill>
                  <a:srgbClr val="FFF8E8"/>
                </a:solidFill>
                <a:latin typeface="Aptos"/>
                <a:ea typeface="PingFang SC"/>
                <a:hlinkClick r:id="rIdLink2"/>
              </a:rPr>
              <a:t>苏州河沿岸 citywalk 体验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914400" y="5285232"/>
            <a:ext cx="5074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50" dirty="0">
                <a:solidFill>
                  <a:srgbClr val="BFC7C1"/>
                </a:solidFill>
                <a:latin typeface="Aptos"/>
                <a:ea typeface="PingFang SC"/>
              </a:rPr>
              <a:t>Watch on Xiaohongshu</a:t>
            </a:r>
          </a:p>
        </p:txBody>
      </p:sp>
      <p:sp>
        <p:nvSpPr>
          <p:cNvPr id="12" name="Shape 12"/>
          <p:cNvSpPr/>
          <p:nvPr/>
        </p:nvSpPr>
        <p:spPr>
          <a:xfrm>
            <a:off x="640080" y="6172200"/>
            <a:ext cx="5577840" cy="1234440"/>
          </a:xfrm>
          <a:prstGeom prst="round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B27A2D">
                <a:alpha val="28000"/>
              </a:srgbClr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914400" y="6446520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50" b="1" dirty="0">
                <a:solidFill>
                  <a:srgbClr val="FFF8E8"/>
                </a:solidFill>
                <a:latin typeface="Aptos"/>
                <a:ea typeface="PingFang SC"/>
                <a:hlinkClick r:id="rIdLink3"/>
              </a:rPr>
              <a:t>和法国朋友一起逛菜市场包馄饨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914400" y="6885432"/>
            <a:ext cx="5074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50" dirty="0">
                <a:solidFill>
                  <a:srgbClr val="BFC7C1"/>
                </a:solidFill>
                <a:latin typeface="Aptos"/>
                <a:ea typeface="PingFang SC"/>
              </a:rPr>
              <a:t>Watch on Xiaohongshu</a:t>
            </a:r>
          </a:p>
        </p:txBody>
      </p:sp>
      <p:pic>
        <p:nvPicPr>
          <p:cNvPr id="15" name="image18.jpg" descr="Wukang Road"/>
          <p:cNvPicPr>
            <a:picLocks noChangeAspect="1"/>
          </p:cNvPicPr>
          <p:nvPr/>
        </p:nvPicPr>
        <p:blipFill>
          <a:blip r:embed="rIdImg1"/>
          <a:srcRect t="23350" b="23350"/>
          <a:stretch>
            <a:fillRect/>
          </a:stretch>
        </p:blipFill>
        <p:spPr>
          <a:xfrm>
            <a:off x="640080" y="8321040"/>
            <a:ext cx="2651760" cy="1874520"/>
          </a:xfrm>
          <a:prstGeom prst="rect">
            <a:avLst/>
          </a:prstGeom>
        </p:spPr>
      </p:pic>
      <p:pic>
        <p:nvPicPr>
          <p:cNvPr id="16" name="image19.jpg" descr="Xujiahui Park"/>
          <p:cNvPicPr>
            <a:picLocks noChangeAspect="1"/>
          </p:cNvPicPr>
          <p:nvPr/>
        </p:nvPicPr>
        <p:blipFill>
          <a:blip r:embed="rIdImg2"/>
          <a:srcRect t="23244" b="23244"/>
          <a:stretch>
            <a:fillRect/>
          </a:stretch>
        </p:blipFill>
        <p:spPr>
          <a:xfrm>
            <a:off x="3566160" y="8321040"/>
            <a:ext cx="2651760" cy="1874520"/>
          </a:xfrm>
          <a:prstGeom prst="rect">
            <a:avLst/>
          </a:prstGeom>
        </p:spPr>
      </p:pic>
      <p:sp>
        <p:nvSpPr>
          <p:cNvPr id="17" name="Text 17"/>
          <p:cNvSpPr txBox="1"/>
          <p:nvPr/>
        </p:nvSpPr>
        <p:spPr>
          <a:xfrm>
            <a:off x="658368" y="11173968"/>
            <a:ext cx="5532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"/>
            <a:r>
              <a:rPr lang="en-US" sz="1050" dirty="0">
                <a:solidFill>
                  <a:srgbClr val="AEB4AD"/>
                </a:solidFill>
                <a:latin typeface="Aptos"/>
                <a:ea typeface="PingFang SC"/>
              </a:rPr>
              <a:t>Guangyuan Market × Fuchun Xiaolong × Shanghainese Home Kitchen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(9:16)</PresentationFormat>
  <Slides>11</Slides>
  <Notes>0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Guangyuan Market x Fuchun Xiaolong x Shanghainese Home Kitchen</dc:title>
  <dc:creator>Lu</dc:creator>
  <cp:lastModifiedBy>Codex</cp:lastModifiedBy>
  <dcterms:created xsi:type="dcterms:W3CDTF">2026-06-07T15:05:08+00:00</dcterms:created>
  <dcterms:modified xsi:type="dcterms:W3CDTF">2026-06-07T15:05:08+00:00</dcterms:modified>
</cp:coreProperties>
</file>